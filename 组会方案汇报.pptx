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6" r:id="rId3"/>
    <p:sldId id="259" r:id="rId4"/>
    <p:sldId id="260" r:id="rId6"/>
    <p:sldId id="261" r:id="rId7"/>
    <p:sldId id="262" r:id="rId8"/>
    <p:sldId id="263" r:id="rId9"/>
    <p:sldId id="264" r:id="rId10"/>
    <p:sldId id="266" r:id="rId11"/>
    <p:sldId id="265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2" userDrawn="1">
          <p15:clr>
            <a:srgbClr val="A4A3A4"/>
          </p15:clr>
        </p15:guide>
        <p15:guide id="2" pos="385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42"/>
        <p:guide pos="385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讲稿：本页用一句话讲清楚主题：不是展示“小车避障”，而是展示“车辆自身看不到时，道路基础设施先看见并提醒车辆”。这是从单车智能升级到车路协同感知。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讲稿：这一页先建立痛点。强调领导看到的不是“小车绕开障碍物”，而是一个真实城市交通痛点：遮挡盲区。我们现有沙盘建筑密集，正好能把这个问题演示出来。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讲稿：按流程图讲，从左到右说明系统闭环。重点是“以路补车”：车辆不需要独立解决所有遮挡问题，路侧设备发现风险后通过V2X提前发给车。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讲稿：这一页按演示动作顺序讲。实际演示时可以先让小车通过一次不预警，再打开协同感知系统对比，让领导感受到预警提前量。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讲稿：强调大屏要解释AI链路。领导不一定关心具体算法，但会关心系统为什么做出这个动作。所以界面要显示目标、风险值、预警消息和车辆响应。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讲稿：这一页说明可实现性。建议不要一开始就购买昂贵车规RSU。第一阶段用Wi-Fi或MQTT模拟预警消息，把“感知—判断—下发—车辆响应—大屏展示”跑通。之后再升级真实V2X硬件。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讲稿：最后总结：这不是一个单功能小车演示，而是具备真实应用含义的车路协同安全预警场景。建议第一阶段用最小设备跑通，第二阶段再增强设备与算法，第三阶段扩展多个应用场景。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6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zh-CN" altLang="en-US"/>
              <a:t>组会</a:t>
            </a:r>
            <a:r>
              <a:rPr lang="zh-CN" altLang="en-US"/>
              <a:t>汇报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r>
              <a:rPr lang="zh-CN" altLang="en-US"/>
              <a:t>林</a:t>
            </a:r>
            <a:r>
              <a:rPr lang="zh-CN" altLang="en-US"/>
              <a:t>兴城</a:t>
            </a:r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scene_16x9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59552" y="0"/>
            <a:ext cx="66294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53212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85800" y="987552"/>
            <a:ext cx="42976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6DFF"/>
                </a:solidFill>
              </a:rPr>
              <a:t>基于车路协同的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85800" y="1417320"/>
            <a:ext cx="4480560" cy="12344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0B1F3A"/>
                </a:solidFill>
              </a:rPr>
              <a:t>“鬼探头”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0B1F3A"/>
                </a:solidFill>
              </a:rPr>
              <a:t>协同感知方案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713232" y="2834640"/>
            <a:ext cx="40233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293B"/>
                </a:solidFill>
              </a:rPr>
              <a:t>车辆看不见，路能看见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713232" y="3401568"/>
            <a:ext cx="2743200" cy="0"/>
          </a:xfrm>
          <a:prstGeom prst="line">
            <a:avLst/>
          </a:prstGeom>
          <a:noFill/>
          <a:ln w="27940">
            <a:solidFill>
              <a:srgbClr val="116D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13232" y="3685032"/>
            <a:ext cx="4315968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7758A"/>
                </a:solidFill>
              </a:rPr>
              <a:t>面向遮挡盲区的路侧感知 · V2X预警 · 沙盘演示方案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13232" y="5961888"/>
            <a:ext cx="21031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6A8"/>
                </a:solidFill>
              </a:rPr>
              <a:t>汇报版 / 5–6页结构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72237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01  为什么选择“鬼探头”场景？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30352" y="1106424"/>
            <a:ext cx="10927080" cy="0"/>
          </a:xfrm>
          <a:prstGeom prst="line">
            <a:avLst/>
          </a:prstGeom>
          <a:noFill/>
          <a:ln w="10160">
            <a:solidFill>
              <a:srgbClr val="D9E3F0"/>
            </a:solidFill>
            <a:prstDash val="solid"/>
          </a:ln>
        </p:spPr>
      </p:sp>
      <p:pic>
        <p:nvPicPr>
          <p:cNvPr id="5" name="Image 0" descr="/mnt/data/sandtable_problem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417320"/>
            <a:ext cx="4800600" cy="45262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6016752"/>
            <a:ext cx="46177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7758A"/>
                </a:solidFill>
              </a:rPr>
              <a:t>现有沙盘天然具备遮挡场景：建筑转角、路口、横穿区域、路侧设备位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5806440" y="146304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</a:rPr>
              <a:t>传统演示的局限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806440" y="1856232"/>
            <a:ext cx="5074920" cy="1097280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240" dirty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功能停留在红绿灯、循迹、简单避障</a:t>
            </a:r>
            <a:endParaRPr lang="en-US" sz="1240" dirty="0"/>
          </a:p>
          <a:p>
            <a:r>
              <a:rPr lang="en-US" sz="1240" dirty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车辆只能在“看见目标后”再制动</a:t>
            </a:r>
            <a:endParaRPr lang="en-US" sz="1240" dirty="0"/>
          </a:p>
          <a:p>
            <a:r>
              <a:rPr lang="en-US" sz="1240" dirty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缺少复杂城市道路的真实风险冲突</a:t>
            </a:r>
            <a:endParaRPr lang="en-US" sz="1240" dirty="0"/>
          </a:p>
        </p:txBody>
      </p:sp>
      <p:sp>
        <p:nvSpPr>
          <p:cNvPr id="9" name="Text 6"/>
          <p:cNvSpPr/>
          <p:nvPr/>
        </p:nvSpPr>
        <p:spPr>
          <a:xfrm>
            <a:off x="5806440" y="3255264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</a:rPr>
              <a:t>“鬼探头”的核心痛点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806440" y="3657600"/>
            <a:ext cx="5120640" cy="694944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330" dirty="0">
                <a:solidFill>
                  <a:srgbClr val="1E293B"/>
                </a:solidFill>
              </a:rPr>
              <a:t>建筑/停靠车辆/绿化带形成非视距盲区，行人或非机动车突然进入冲突区域；单车传感器发现太晚，预警窗口不足。</a:t>
            </a:r>
            <a:endParaRPr lang="en-US" sz="1330" dirty="0"/>
          </a:p>
        </p:txBody>
      </p:sp>
      <p:sp>
        <p:nvSpPr>
          <p:cNvPr id="11" name="Shape 8"/>
          <p:cNvSpPr/>
          <p:nvPr/>
        </p:nvSpPr>
        <p:spPr>
          <a:xfrm>
            <a:off x="5806440" y="4736592"/>
            <a:ext cx="5074920" cy="804672"/>
          </a:xfrm>
          <a:prstGeom prst="rect">
            <a:avLst/>
          </a:prstGeom>
          <a:solidFill>
            <a:srgbClr val="EEF5FF"/>
          </a:solidFill>
          <a:ln w="12700">
            <a:solidFill>
              <a:srgbClr val="D6E8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016752" y="4882896"/>
            <a:ext cx="24688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6DFF"/>
                </a:solidFill>
              </a:rPr>
              <a:t>本方案要展示的核心变化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016752" y="5166360"/>
            <a:ext cx="4526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</a:rPr>
              <a:t>从“单车被动避障” → “路侧主动预警 + 车辆提前处置”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806440" y="6016752"/>
            <a:ext cx="51206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30" dirty="0">
                <a:solidFill>
                  <a:srgbClr val="7B8798"/>
                </a:solidFill>
              </a:rPr>
              <a:t>参考：V2X被用于非视距（NLOS）碰撞风险预警。资料：工研院产业学习网。</a:t>
            </a:r>
            <a:endParaRPr lang="en-US" sz="730" dirty="0"/>
          </a:p>
        </p:txBody>
      </p:sp>
      <p:sp>
        <p:nvSpPr>
          <p:cNvPr id="15" name="Text 12"/>
          <p:cNvSpPr/>
          <p:nvPr/>
        </p:nvSpPr>
        <p:spPr>
          <a:xfrm>
            <a:off x="566928" y="6519672"/>
            <a:ext cx="71323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8A96A8"/>
                </a:solidFill>
              </a:rPr>
              <a:t>基于车路协同的“鬼探头”协同感知方案</a:t>
            </a:r>
            <a:endParaRPr lang="en-US" sz="650" dirty="0"/>
          </a:p>
        </p:txBody>
      </p:sp>
      <p:sp>
        <p:nvSpPr>
          <p:cNvPr id="16" name="Text 13"/>
          <p:cNvSpPr/>
          <p:nvPr/>
        </p:nvSpPr>
        <p:spPr>
          <a:xfrm>
            <a:off x="9784080" y="6519672"/>
            <a:ext cx="17830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A96A8"/>
                </a:solidFill>
              </a:rPr>
              <a:t>车辆看不见，路能看见</a:t>
            </a:r>
            <a:endParaRPr lang="en-US" sz="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72237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02  总体方案：路侧先感知，车辆早预警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30352" y="1106424"/>
            <a:ext cx="10927080" cy="0"/>
          </a:xfrm>
          <a:prstGeom prst="line">
            <a:avLst/>
          </a:prstGeom>
          <a:noFill/>
          <a:ln w="10160">
            <a:solidFill>
              <a:srgbClr val="D9E3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103120" y="3429000"/>
            <a:ext cx="530352" cy="0"/>
          </a:xfrm>
          <a:prstGeom prst="line">
            <a:avLst/>
          </a:prstGeom>
          <a:noFill/>
          <a:ln w="19050">
            <a:solidFill>
              <a:srgbClr val="116DFF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4050792" y="3429000"/>
            <a:ext cx="530352" cy="0"/>
          </a:xfrm>
          <a:prstGeom prst="line">
            <a:avLst/>
          </a:prstGeom>
          <a:noFill/>
          <a:ln w="19050">
            <a:solidFill>
              <a:srgbClr val="116DFF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5998464" y="3429000"/>
            <a:ext cx="530352" cy="0"/>
          </a:xfrm>
          <a:prstGeom prst="line">
            <a:avLst/>
          </a:prstGeom>
          <a:noFill/>
          <a:ln w="19050">
            <a:solidFill>
              <a:srgbClr val="116DFF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7946136" y="3429000"/>
            <a:ext cx="530352" cy="0"/>
          </a:xfrm>
          <a:prstGeom prst="line">
            <a:avLst/>
          </a:prstGeom>
          <a:noFill/>
          <a:ln w="19050">
            <a:solidFill>
              <a:srgbClr val="116DFF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9893808" y="3429000"/>
            <a:ext cx="530352" cy="0"/>
          </a:xfrm>
          <a:prstGeom prst="line">
            <a:avLst/>
          </a:prstGeom>
          <a:noFill/>
          <a:ln w="19050">
            <a:solidFill>
              <a:srgbClr val="116DFF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85800" y="2971800"/>
            <a:ext cx="141732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240">
            <a:solidFill>
              <a:srgbClr val="116D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5528" y="3118104"/>
            <a:ext cx="1197864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A"/>
                </a:solidFill>
              </a:rPr>
              <a:t>路侧摄像头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95528" y="3456432"/>
            <a:ext cx="1197864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70" dirty="0">
                <a:solidFill>
                  <a:srgbClr val="67758A"/>
                </a:solidFill>
              </a:rPr>
              <a:t>盲区目标采集</a:t>
            </a:r>
            <a:endParaRPr lang="en-US" sz="770" dirty="0"/>
          </a:p>
        </p:txBody>
      </p:sp>
      <p:sp>
        <p:nvSpPr>
          <p:cNvPr id="13" name="Shape 11"/>
          <p:cNvSpPr/>
          <p:nvPr/>
        </p:nvSpPr>
        <p:spPr>
          <a:xfrm>
            <a:off x="2633472" y="2971800"/>
            <a:ext cx="141732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240">
            <a:solidFill>
              <a:srgbClr val="116D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0" y="3118104"/>
            <a:ext cx="1197864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A"/>
                </a:solidFill>
              </a:rPr>
              <a:t>边缘AI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743200" y="3456432"/>
            <a:ext cx="1197864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70" dirty="0">
                <a:solidFill>
                  <a:srgbClr val="67758A"/>
                </a:solidFill>
              </a:rPr>
              <a:t>检测/跟踪/识别</a:t>
            </a:r>
            <a:endParaRPr lang="en-US" sz="770" dirty="0"/>
          </a:p>
        </p:txBody>
      </p:sp>
      <p:sp>
        <p:nvSpPr>
          <p:cNvPr id="16" name="Shape 14"/>
          <p:cNvSpPr/>
          <p:nvPr/>
        </p:nvSpPr>
        <p:spPr>
          <a:xfrm>
            <a:off x="4581144" y="2971800"/>
            <a:ext cx="141732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240">
            <a:solidFill>
              <a:srgbClr val="FF4D4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90872" y="3118104"/>
            <a:ext cx="1197864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4D4F"/>
                </a:solidFill>
              </a:rPr>
              <a:t>风险判断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90872" y="3456432"/>
            <a:ext cx="1197864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70" dirty="0">
                <a:solidFill>
                  <a:srgbClr val="67758A"/>
                </a:solidFill>
              </a:rPr>
              <a:t>TTC/冲突区/等级</a:t>
            </a:r>
            <a:endParaRPr lang="en-US" sz="770" dirty="0"/>
          </a:p>
        </p:txBody>
      </p:sp>
      <p:sp>
        <p:nvSpPr>
          <p:cNvPr id="19" name="Shape 17"/>
          <p:cNvSpPr/>
          <p:nvPr/>
        </p:nvSpPr>
        <p:spPr>
          <a:xfrm>
            <a:off x="6528816" y="2971800"/>
            <a:ext cx="141732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240">
            <a:solidFill>
              <a:srgbClr val="116D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38544" y="3118104"/>
            <a:ext cx="1197864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A"/>
                </a:solidFill>
              </a:rPr>
              <a:t>RSU / V2X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638544" y="3456432"/>
            <a:ext cx="1197864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70" dirty="0">
                <a:solidFill>
                  <a:srgbClr val="67758A"/>
                </a:solidFill>
              </a:rPr>
              <a:t>广播风险消息</a:t>
            </a:r>
            <a:endParaRPr lang="en-US" sz="770" dirty="0"/>
          </a:p>
        </p:txBody>
      </p:sp>
      <p:sp>
        <p:nvSpPr>
          <p:cNvPr id="22" name="Shape 20"/>
          <p:cNvSpPr/>
          <p:nvPr/>
        </p:nvSpPr>
        <p:spPr>
          <a:xfrm>
            <a:off x="8476488" y="2971800"/>
            <a:ext cx="141732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240">
            <a:solidFill>
              <a:srgbClr val="116D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86216" y="3118104"/>
            <a:ext cx="1197864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A"/>
                </a:solidFill>
              </a:rPr>
              <a:t>小车响应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586216" y="3456432"/>
            <a:ext cx="1197864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70" dirty="0">
                <a:solidFill>
                  <a:srgbClr val="67758A"/>
                </a:solidFill>
              </a:rPr>
              <a:t>预警/减速/停车</a:t>
            </a:r>
            <a:endParaRPr lang="en-US" sz="770" dirty="0"/>
          </a:p>
        </p:txBody>
      </p:sp>
      <p:sp>
        <p:nvSpPr>
          <p:cNvPr id="25" name="Shape 23"/>
          <p:cNvSpPr/>
          <p:nvPr/>
        </p:nvSpPr>
        <p:spPr>
          <a:xfrm>
            <a:off x="10424160" y="2971800"/>
            <a:ext cx="141732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240">
            <a:solidFill>
              <a:srgbClr val="116D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533888" y="3118104"/>
            <a:ext cx="1197864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A"/>
                </a:solidFill>
              </a:rPr>
              <a:t>大屏展示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533888" y="3456432"/>
            <a:ext cx="1197864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70" dirty="0">
                <a:solidFill>
                  <a:srgbClr val="67758A"/>
                </a:solidFill>
              </a:rPr>
              <a:t>虚拟目标+过程解释</a:t>
            </a:r>
            <a:endParaRPr lang="en-US" sz="770" dirty="0"/>
          </a:p>
        </p:txBody>
      </p:sp>
      <p:pic>
        <p:nvPicPr>
          <p:cNvPr id="28" name="Image 0" descr="/mnt/data/scene_banner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325880"/>
            <a:ext cx="4526280" cy="1353312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5532120" y="1353312"/>
            <a:ext cx="1298448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6DFF"/>
                </a:solidFill>
              </a:rPr>
              <a:t>一句话逻辑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5532120" y="1700784"/>
            <a:ext cx="5440680" cy="621792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</a:rPr>
              <a:t>不是让车辆“自己硬看出来”，而是让道路基础设施成为车辆的外部眼睛。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5532120" y="2587752"/>
            <a:ext cx="5349240" cy="0"/>
          </a:xfrm>
          <a:prstGeom prst="line">
            <a:avLst/>
          </a:prstGeom>
          <a:noFill/>
          <a:ln w="12700">
            <a:solidFill>
              <a:srgbClr val="D7E3F4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85800" y="4617720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1F3A"/>
                </a:solidFill>
              </a:rPr>
              <a:t>关键能力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777240" y="5102352"/>
            <a:ext cx="256032" cy="256032"/>
          </a:xfrm>
          <a:prstGeom prst="arc">
            <a:avLst/>
          </a:prstGeom>
          <a:noFill/>
          <a:ln w="25400">
            <a:solidFill>
              <a:srgbClr val="116DFF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1143000" y="5010912"/>
            <a:ext cx="14173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</a:rPr>
              <a:t>看得见盲区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1143000" y="5321808"/>
            <a:ext cx="18745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dirty="0">
                <a:solidFill>
                  <a:srgbClr val="67758A"/>
                </a:solidFill>
              </a:rPr>
              <a:t>路侧摄像头覆盖转角和横穿区</a:t>
            </a:r>
            <a:endParaRPr lang="en-US" sz="840" dirty="0"/>
          </a:p>
        </p:txBody>
      </p:sp>
      <p:sp>
        <p:nvSpPr>
          <p:cNvPr id="36" name="Shape 33"/>
          <p:cNvSpPr/>
          <p:nvPr/>
        </p:nvSpPr>
        <p:spPr>
          <a:xfrm>
            <a:off x="3566160" y="5102352"/>
            <a:ext cx="256032" cy="256032"/>
          </a:xfrm>
          <a:prstGeom prst="arc">
            <a:avLst/>
          </a:prstGeom>
          <a:noFill/>
          <a:ln w="25400">
            <a:solidFill>
              <a:srgbClr val="116DFF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3931920" y="5010912"/>
            <a:ext cx="14173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</a:rPr>
              <a:t>算得出风险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3931920" y="5321808"/>
            <a:ext cx="18745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dirty="0">
                <a:solidFill>
                  <a:srgbClr val="67758A"/>
                </a:solidFill>
              </a:rPr>
              <a:t>TTC、速度、距离、冲突区域</a:t>
            </a:r>
            <a:endParaRPr lang="en-US" sz="840" dirty="0"/>
          </a:p>
        </p:txBody>
      </p:sp>
      <p:sp>
        <p:nvSpPr>
          <p:cNvPr id="39" name="Shape 36"/>
          <p:cNvSpPr/>
          <p:nvPr/>
        </p:nvSpPr>
        <p:spPr>
          <a:xfrm>
            <a:off x="6355080" y="5102352"/>
            <a:ext cx="256032" cy="256032"/>
          </a:xfrm>
          <a:prstGeom prst="arc">
            <a:avLst/>
          </a:prstGeom>
          <a:noFill/>
          <a:ln w="25400">
            <a:solidFill>
              <a:srgbClr val="116DFF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720840" y="5010912"/>
            <a:ext cx="14173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</a:rPr>
              <a:t>发得到车辆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6720840" y="5321808"/>
            <a:ext cx="18745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dirty="0">
                <a:solidFill>
                  <a:srgbClr val="67758A"/>
                </a:solidFill>
              </a:rPr>
              <a:t>RSU/V2X下发风险消息</a:t>
            </a:r>
            <a:endParaRPr lang="en-US" sz="840" dirty="0"/>
          </a:p>
        </p:txBody>
      </p:sp>
      <p:sp>
        <p:nvSpPr>
          <p:cNvPr id="42" name="Shape 39"/>
          <p:cNvSpPr/>
          <p:nvPr/>
        </p:nvSpPr>
        <p:spPr>
          <a:xfrm>
            <a:off x="9144000" y="5102352"/>
            <a:ext cx="256032" cy="256032"/>
          </a:xfrm>
          <a:prstGeom prst="arc">
            <a:avLst/>
          </a:prstGeom>
          <a:noFill/>
          <a:ln w="25400">
            <a:solidFill>
              <a:srgbClr val="116DFF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9509760" y="5010912"/>
            <a:ext cx="14173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</a:rPr>
              <a:t>解释得清楚</a:t>
            </a:r>
            <a:endParaRPr lang="en-US" sz="1100" dirty="0"/>
          </a:p>
        </p:txBody>
      </p:sp>
      <p:sp>
        <p:nvSpPr>
          <p:cNvPr id="44" name="Text 41"/>
          <p:cNvSpPr/>
          <p:nvPr/>
        </p:nvSpPr>
        <p:spPr>
          <a:xfrm>
            <a:off x="9509760" y="5321808"/>
            <a:ext cx="18745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dirty="0">
                <a:solidFill>
                  <a:srgbClr val="67758A"/>
                </a:solidFill>
              </a:rPr>
              <a:t>大屏同步展示识别与响应链路</a:t>
            </a:r>
            <a:endParaRPr lang="en-US" sz="840" dirty="0"/>
          </a:p>
        </p:txBody>
      </p:sp>
      <p:sp>
        <p:nvSpPr>
          <p:cNvPr id="45" name="Text 42"/>
          <p:cNvSpPr/>
          <p:nvPr/>
        </p:nvSpPr>
        <p:spPr>
          <a:xfrm>
            <a:off x="685800" y="6126480"/>
            <a:ext cx="74980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30" dirty="0">
                <a:solidFill>
                  <a:srgbClr val="7B8798"/>
                </a:solidFill>
              </a:rPr>
              <a:t>参考：V2I让车辆与道路设施交换信号灯、路况、障碍物等信息。资料：USI Global。</a:t>
            </a:r>
            <a:endParaRPr lang="en-US" sz="730" dirty="0"/>
          </a:p>
        </p:txBody>
      </p:sp>
      <p:sp>
        <p:nvSpPr>
          <p:cNvPr id="46" name="Text 43"/>
          <p:cNvSpPr/>
          <p:nvPr/>
        </p:nvSpPr>
        <p:spPr>
          <a:xfrm>
            <a:off x="566928" y="6519672"/>
            <a:ext cx="71323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8A96A8"/>
                </a:solidFill>
              </a:rPr>
              <a:t>基于车路协同的“鬼探头”协同感知方案</a:t>
            </a:r>
            <a:endParaRPr lang="en-US" sz="650" dirty="0"/>
          </a:p>
        </p:txBody>
      </p:sp>
      <p:sp>
        <p:nvSpPr>
          <p:cNvPr id="47" name="Text 44"/>
          <p:cNvSpPr/>
          <p:nvPr/>
        </p:nvSpPr>
        <p:spPr>
          <a:xfrm>
            <a:off x="9784080" y="6519672"/>
            <a:ext cx="17830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A96A8"/>
                </a:solidFill>
              </a:rPr>
              <a:t>车辆看不见，路能看见</a:t>
            </a:r>
            <a:endParaRPr lang="en-US" sz="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72237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03  现场演示脚本：6步让领导看懂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30352" y="1106424"/>
            <a:ext cx="10927080" cy="0"/>
          </a:xfrm>
          <a:prstGeom prst="line">
            <a:avLst/>
          </a:prstGeom>
          <a:noFill/>
          <a:ln w="10160">
            <a:solidFill>
              <a:srgbClr val="D9E3F0"/>
            </a:solidFill>
            <a:prstDash val="solid"/>
          </a:ln>
        </p:spPr>
      </p:sp>
      <p:pic>
        <p:nvPicPr>
          <p:cNvPr id="5" name="Image 0" descr="/mnt/data/scene_wide_crop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298448"/>
            <a:ext cx="4800600" cy="411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13232" y="5577840"/>
            <a:ext cx="4572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dirty="0">
                <a:solidFill>
                  <a:srgbClr val="67758A"/>
                </a:solidFill>
              </a:rPr>
              <a:t>建议在沙盘中选择建筑转角或学校/医院门口作为冲突区域</a:t>
            </a:r>
            <a:endParaRPr lang="en-US" sz="940" dirty="0"/>
          </a:p>
        </p:txBody>
      </p:sp>
      <p:sp>
        <p:nvSpPr>
          <p:cNvPr id="7" name="Shape 4"/>
          <p:cNvSpPr/>
          <p:nvPr/>
        </p:nvSpPr>
        <p:spPr>
          <a:xfrm>
            <a:off x="5715000" y="1426464"/>
            <a:ext cx="347472" cy="347472"/>
          </a:xfrm>
          <a:prstGeom prst="ellipse">
            <a:avLst/>
          </a:prstGeom>
          <a:solidFill>
            <a:srgbClr val="116D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715000" y="1495044"/>
            <a:ext cx="34747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</a:rPr>
              <a:t>1</a:t>
            </a:r>
            <a:endParaRPr lang="en-US" sz="920" dirty="0"/>
          </a:p>
        </p:txBody>
      </p:sp>
      <p:sp>
        <p:nvSpPr>
          <p:cNvPr id="9" name="Text 6"/>
          <p:cNvSpPr/>
          <p:nvPr/>
        </p:nvSpPr>
        <p:spPr>
          <a:xfrm>
            <a:off x="6217920" y="1399032"/>
            <a:ext cx="20574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</a:rPr>
              <a:t>小车正常行驶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217920" y="1728216"/>
            <a:ext cx="2148840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90" dirty="0">
                <a:solidFill>
                  <a:srgbClr val="67758A"/>
                </a:solidFill>
              </a:rPr>
              <a:t>沿既定路线接近建筑转角</a:t>
            </a:r>
            <a:endParaRPr lang="en-US" sz="890" dirty="0"/>
          </a:p>
        </p:txBody>
      </p:sp>
      <p:sp>
        <p:nvSpPr>
          <p:cNvPr id="11" name="Shape 8"/>
          <p:cNvSpPr/>
          <p:nvPr/>
        </p:nvSpPr>
        <p:spPr>
          <a:xfrm>
            <a:off x="8549640" y="1426464"/>
            <a:ext cx="347472" cy="347472"/>
          </a:xfrm>
          <a:prstGeom prst="ellipse">
            <a:avLst/>
          </a:prstGeom>
          <a:solidFill>
            <a:srgbClr val="116D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549640" y="1495044"/>
            <a:ext cx="34747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</a:rPr>
              <a:t>2</a:t>
            </a:r>
            <a:endParaRPr lang="en-US" sz="920" dirty="0"/>
          </a:p>
        </p:txBody>
      </p:sp>
      <p:sp>
        <p:nvSpPr>
          <p:cNvPr id="13" name="Text 10"/>
          <p:cNvSpPr/>
          <p:nvPr/>
        </p:nvSpPr>
        <p:spPr>
          <a:xfrm>
            <a:off x="9052560" y="1399032"/>
            <a:ext cx="20574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</a:rPr>
              <a:t>行人从盲区出现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9052560" y="1728216"/>
            <a:ext cx="2148840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90" dirty="0">
                <a:solidFill>
                  <a:srgbClr val="67758A"/>
                </a:solidFill>
              </a:rPr>
              <a:t>小车本车视角暂时不可见</a:t>
            </a:r>
            <a:endParaRPr lang="en-US" sz="890" dirty="0"/>
          </a:p>
        </p:txBody>
      </p:sp>
      <p:sp>
        <p:nvSpPr>
          <p:cNvPr id="15" name="Shape 12"/>
          <p:cNvSpPr/>
          <p:nvPr/>
        </p:nvSpPr>
        <p:spPr>
          <a:xfrm>
            <a:off x="5715000" y="2779776"/>
            <a:ext cx="347472" cy="347472"/>
          </a:xfrm>
          <a:prstGeom prst="ellipse">
            <a:avLst/>
          </a:prstGeom>
          <a:solidFill>
            <a:srgbClr val="116D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715000" y="2848356"/>
            <a:ext cx="34747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</a:rPr>
              <a:t>3</a:t>
            </a:r>
            <a:endParaRPr lang="en-US" sz="920" dirty="0"/>
          </a:p>
        </p:txBody>
      </p:sp>
      <p:sp>
        <p:nvSpPr>
          <p:cNvPr id="17" name="Text 14"/>
          <p:cNvSpPr/>
          <p:nvPr/>
        </p:nvSpPr>
        <p:spPr>
          <a:xfrm>
            <a:off x="6217920" y="2752344"/>
            <a:ext cx="20574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</a:rPr>
              <a:t>路侧摄像头先发现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217920" y="3081528"/>
            <a:ext cx="2148840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90" dirty="0">
                <a:solidFill>
                  <a:srgbClr val="67758A"/>
                </a:solidFill>
              </a:rPr>
              <a:t>边缘AI识别目标类型与轨迹</a:t>
            </a:r>
            <a:endParaRPr lang="en-US" sz="890" dirty="0"/>
          </a:p>
        </p:txBody>
      </p:sp>
      <p:sp>
        <p:nvSpPr>
          <p:cNvPr id="19" name="Shape 16"/>
          <p:cNvSpPr/>
          <p:nvPr/>
        </p:nvSpPr>
        <p:spPr>
          <a:xfrm>
            <a:off x="8549640" y="2779776"/>
            <a:ext cx="347472" cy="347472"/>
          </a:xfrm>
          <a:prstGeom prst="ellipse">
            <a:avLst/>
          </a:prstGeom>
          <a:solidFill>
            <a:srgbClr val="FF4D4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549640" y="2848356"/>
            <a:ext cx="34747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</a:rPr>
              <a:t>4</a:t>
            </a:r>
            <a:endParaRPr lang="en-US" sz="920" dirty="0"/>
          </a:p>
        </p:txBody>
      </p:sp>
      <p:sp>
        <p:nvSpPr>
          <p:cNvPr id="21" name="Text 18"/>
          <p:cNvSpPr/>
          <p:nvPr/>
        </p:nvSpPr>
        <p:spPr>
          <a:xfrm>
            <a:off x="9052560" y="2752344"/>
            <a:ext cx="20574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</a:rPr>
              <a:t>计算风险等级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9052560" y="3081528"/>
            <a:ext cx="2148840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90" dirty="0">
                <a:solidFill>
                  <a:srgbClr val="67758A"/>
                </a:solidFill>
              </a:rPr>
              <a:t>TTC=2.3s，风险等级：高</a:t>
            </a:r>
            <a:endParaRPr lang="en-US" sz="890" dirty="0"/>
          </a:p>
        </p:txBody>
      </p:sp>
      <p:sp>
        <p:nvSpPr>
          <p:cNvPr id="23" name="Shape 20"/>
          <p:cNvSpPr/>
          <p:nvPr/>
        </p:nvSpPr>
        <p:spPr>
          <a:xfrm>
            <a:off x="5715000" y="4133088"/>
            <a:ext cx="347472" cy="347472"/>
          </a:xfrm>
          <a:prstGeom prst="ellipse">
            <a:avLst/>
          </a:prstGeom>
          <a:solidFill>
            <a:srgbClr val="116D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715000" y="4201668"/>
            <a:ext cx="34747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</a:rPr>
              <a:t>5</a:t>
            </a:r>
            <a:endParaRPr lang="en-US" sz="920" dirty="0"/>
          </a:p>
        </p:txBody>
      </p:sp>
      <p:sp>
        <p:nvSpPr>
          <p:cNvPr id="25" name="Text 22"/>
          <p:cNvSpPr/>
          <p:nvPr/>
        </p:nvSpPr>
        <p:spPr>
          <a:xfrm>
            <a:off x="6217920" y="4105656"/>
            <a:ext cx="20574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</a:rPr>
              <a:t>RSU/V2X发出预警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6217920" y="4434840"/>
            <a:ext cx="2148840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90" dirty="0">
                <a:solidFill>
                  <a:srgbClr val="67758A"/>
                </a:solidFill>
              </a:rPr>
              <a:t>向小车下发“右前方盲区风险”</a:t>
            </a:r>
            <a:endParaRPr lang="en-US" sz="890" dirty="0"/>
          </a:p>
        </p:txBody>
      </p:sp>
      <p:sp>
        <p:nvSpPr>
          <p:cNvPr id="27" name="Shape 24"/>
          <p:cNvSpPr/>
          <p:nvPr/>
        </p:nvSpPr>
        <p:spPr>
          <a:xfrm>
            <a:off x="8549640" y="4133088"/>
            <a:ext cx="347472" cy="347472"/>
          </a:xfrm>
          <a:prstGeom prst="ellipse">
            <a:avLst/>
          </a:prstGeom>
          <a:solidFill>
            <a:srgbClr val="116D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549640" y="4201668"/>
            <a:ext cx="34747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</a:rPr>
              <a:t>6</a:t>
            </a:r>
            <a:endParaRPr lang="en-US" sz="920" dirty="0"/>
          </a:p>
        </p:txBody>
      </p:sp>
      <p:sp>
        <p:nvSpPr>
          <p:cNvPr id="29" name="Text 26"/>
          <p:cNvSpPr/>
          <p:nvPr/>
        </p:nvSpPr>
        <p:spPr>
          <a:xfrm>
            <a:off x="9052560" y="4105656"/>
            <a:ext cx="20574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</a:rPr>
              <a:t>车辆减速/停车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9052560" y="4434840"/>
            <a:ext cx="2148840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90" dirty="0">
                <a:solidFill>
                  <a:srgbClr val="67758A"/>
                </a:solidFill>
              </a:rPr>
              <a:t>大屏显示虚拟目标与处置结果</a:t>
            </a:r>
            <a:endParaRPr lang="en-US" sz="890" dirty="0"/>
          </a:p>
        </p:txBody>
      </p:sp>
      <p:sp>
        <p:nvSpPr>
          <p:cNvPr id="33" name="Text 30"/>
          <p:cNvSpPr/>
          <p:nvPr/>
        </p:nvSpPr>
        <p:spPr>
          <a:xfrm>
            <a:off x="566928" y="6519672"/>
            <a:ext cx="71323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8A96A8"/>
                </a:solidFill>
              </a:rPr>
              <a:t>基于车路协同的“鬼探头”协同感知方案</a:t>
            </a:r>
            <a:endParaRPr lang="en-US" sz="650" dirty="0"/>
          </a:p>
        </p:txBody>
      </p:sp>
      <p:sp>
        <p:nvSpPr>
          <p:cNvPr id="34" name="Text 31"/>
          <p:cNvSpPr/>
          <p:nvPr/>
        </p:nvSpPr>
        <p:spPr>
          <a:xfrm>
            <a:off x="9784080" y="6519672"/>
            <a:ext cx="17830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A96A8"/>
                </a:solidFill>
              </a:rPr>
              <a:t>车辆看不见，路能看见</a:t>
            </a:r>
            <a:endParaRPr lang="en-US" sz="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72237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04  大屏怎么展示：把“AI做了什么”讲清楚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30352" y="1106424"/>
            <a:ext cx="10927080" cy="0"/>
          </a:xfrm>
          <a:prstGeom prst="line">
            <a:avLst/>
          </a:prstGeom>
          <a:noFill/>
          <a:ln w="10160">
            <a:solidFill>
              <a:srgbClr val="D9E3F0"/>
            </a:solidFill>
            <a:prstDash val="solid"/>
          </a:ln>
        </p:spPr>
      </p:sp>
      <p:pic>
        <p:nvPicPr>
          <p:cNvPr id="5" name="Image 0" descr="/mnt/data/screen_crop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298448"/>
            <a:ext cx="5212080" cy="3977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58368" y="5440680"/>
            <a:ext cx="49834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dirty="0">
                <a:solidFill>
                  <a:srgbClr val="67758A"/>
                </a:solidFill>
              </a:rPr>
              <a:t>建议把当前大屏从“状态参数看板”升级成“协同感知解释看板”</a:t>
            </a:r>
            <a:endParaRPr lang="en-US" sz="930" dirty="0"/>
          </a:p>
        </p:txBody>
      </p:sp>
      <p:sp>
        <p:nvSpPr>
          <p:cNvPr id="7" name="Text 4"/>
          <p:cNvSpPr/>
          <p:nvPr/>
        </p:nvSpPr>
        <p:spPr>
          <a:xfrm>
            <a:off x="6153912" y="132588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</a:rPr>
              <a:t>大屏四个核心区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172200" y="1865376"/>
            <a:ext cx="42062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① 沙盘实景/摄像头画面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172200" y="2176272"/>
            <a:ext cx="43891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dirty="0">
                <a:solidFill>
                  <a:srgbClr val="67758A"/>
                </a:solidFill>
              </a:rPr>
              <a:t>显示路侧摄像头看到的盲区目标</a:t>
            </a:r>
            <a:endParaRPr lang="en-US" sz="930" dirty="0"/>
          </a:p>
        </p:txBody>
      </p:sp>
      <p:sp>
        <p:nvSpPr>
          <p:cNvPr id="10" name="Text 7"/>
          <p:cNvSpPr/>
          <p:nvPr/>
        </p:nvSpPr>
        <p:spPr>
          <a:xfrm>
            <a:off x="6172200" y="2660904"/>
            <a:ext cx="42062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② 风险目标叠加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172200" y="2971800"/>
            <a:ext cx="43891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dirty="0">
                <a:solidFill>
                  <a:srgbClr val="67758A"/>
                </a:solidFill>
              </a:rPr>
              <a:t>在地图上标出行人、车、冲突区域</a:t>
            </a:r>
            <a:endParaRPr lang="en-US" sz="930" dirty="0"/>
          </a:p>
        </p:txBody>
      </p:sp>
      <p:sp>
        <p:nvSpPr>
          <p:cNvPr id="12" name="Text 9"/>
          <p:cNvSpPr/>
          <p:nvPr/>
        </p:nvSpPr>
        <p:spPr>
          <a:xfrm>
            <a:off x="6172200" y="3456432"/>
            <a:ext cx="42062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③ 风险指标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172200" y="3767328"/>
            <a:ext cx="43891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dirty="0">
                <a:solidFill>
                  <a:srgbClr val="67758A"/>
                </a:solidFill>
              </a:rPr>
              <a:t>TTC、距离、速度、风险等级</a:t>
            </a:r>
            <a:endParaRPr lang="en-US" sz="930" dirty="0"/>
          </a:p>
        </p:txBody>
      </p:sp>
      <p:sp>
        <p:nvSpPr>
          <p:cNvPr id="14" name="Text 11"/>
          <p:cNvSpPr/>
          <p:nvPr/>
        </p:nvSpPr>
        <p:spPr>
          <a:xfrm>
            <a:off x="6172200" y="4251960"/>
            <a:ext cx="42062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④ 车辆响应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172200" y="4562856"/>
            <a:ext cx="43891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dirty="0">
                <a:solidFill>
                  <a:srgbClr val="67758A"/>
                </a:solidFill>
              </a:rPr>
              <a:t>已预警 / 已减速 / 已停车 / 已解除风险</a:t>
            </a:r>
            <a:endParaRPr lang="en-US" sz="930" dirty="0"/>
          </a:p>
        </p:txBody>
      </p:sp>
      <p:sp>
        <p:nvSpPr>
          <p:cNvPr id="16" name="Shape 13"/>
          <p:cNvSpPr/>
          <p:nvPr/>
        </p:nvSpPr>
        <p:spPr>
          <a:xfrm>
            <a:off x="6144768" y="5321808"/>
            <a:ext cx="4617720" cy="585216"/>
          </a:xfrm>
          <a:prstGeom prst="roundRect">
            <a:avLst>
              <a:gd name="adj" fmla="val 12500"/>
            </a:avLst>
          </a:prstGeom>
          <a:solidFill>
            <a:srgbClr val="EAF8FF"/>
          </a:solidFill>
          <a:ln w="12700">
            <a:solidFill>
              <a:srgbClr val="CDEE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27648" y="5458968"/>
            <a:ext cx="11430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70" b="1" dirty="0">
                <a:solidFill>
                  <a:srgbClr val="116DFF"/>
                </a:solidFill>
              </a:rPr>
              <a:t>建议界面提示语</a:t>
            </a:r>
            <a:endParaRPr lang="en-US" sz="870" dirty="0"/>
          </a:p>
        </p:txBody>
      </p:sp>
      <p:sp>
        <p:nvSpPr>
          <p:cNvPr id="18" name="Text 15"/>
          <p:cNvSpPr/>
          <p:nvPr/>
        </p:nvSpPr>
        <p:spPr>
          <a:xfrm>
            <a:off x="7726680" y="5440680"/>
            <a:ext cx="283464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b="1" dirty="0">
                <a:solidFill>
                  <a:srgbClr val="0B1F3A"/>
                </a:solidFill>
              </a:rPr>
              <a:t>右前方建筑盲区存在横穿行人，TTC=2.3s，已向车辆发送高风险预警。</a:t>
            </a:r>
            <a:endParaRPr lang="en-US" sz="920" dirty="0"/>
          </a:p>
        </p:txBody>
      </p:sp>
      <p:sp>
        <p:nvSpPr>
          <p:cNvPr id="19" name="Text 16"/>
          <p:cNvSpPr/>
          <p:nvPr/>
        </p:nvSpPr>
        <p:spPr>
          <a:xfrm>
            <a:off x="566928" y="6519672"/>
            <a:ext cx="71323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8A96A8"/>
                </a:solidFill>
              </a:rPr>
              <a:t>基于车路协同的“鬼探头”协同感知方案</a:t>
            </a:r>
            <a:endParaRPr lang="en-US" sz="650" dirty="0"/>
          </a:p>
        </p:txBody>
      </p:sp>
      <p:sp>
        <p:nvSpPr>
          <p:cNvPr id="20" name="Text 17"/>
          <p:cNvSpPr/>
          <p:nvPr/>
        </p:nvSpPr>
        <p:spPr>
          <a:xfrm>
            <a:off x="9784080" y="6519672"/>
            <a:ext cx="17830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A96A8"/>
                </a:solidFill>
              </a:rPr>
              <a:t>车辆看不见，路能看见</a:t>
            </a:r>
            <a:endParaRPr lang="en-US" sz="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72237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05  实现与采购：可用低成本设备做出闭环Demo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30352" y="1106424"/>
            <a:ext cx="10927080" cy="0"/>
          </a:xfrm>
          <a:prstGeom prst="line">
            <a:avLst/>
          </a:prstGeom>
          <a:noFill/>
          <a:ln w="10160">
            <a:solidFill>
              <a:srgbClr val="D9E3F0"/>
            </a:solidFill>
            <a:prstDash val="solid"/>
          </a:ln>
        </p:spPr>
      </p:sp>
      <p:pic>
        <p:nvPicPr>
          <p:cNvPr id="5" name="Image 0" descr="/mnt/data/kit_crop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325880"/>
            <a:ext cx="4617720" cy="33832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58368" y="4892040"/>
            <a:ext cx="45720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30" dirty="0">
                <a:solidFill>
                  <a:srgbClr val="7B8798"/>
                </a:solidFill>
              </a:rPr>
              <a:t>示意图：路侧摄像头 + RSU/通信模块 + 边缘计算盒 + 智能小车 + 行人模型</a:t>
            </a:r>
            <a:endParaRPr lang="en-US" sz="730" dirty="0"/>
          </a:p>
        </p:txBody>
      </p:sp>
      <p:sp>
        <p:nvSpPr>
          <p:cNvPr id="7" name="Text 4"/>
          <p:cNvSpPr/>
          <p:nvPr/>
        </p:nvSpPr>
        <p:spPr>
          <a:xfrm>
            <a:off x="5623560" y="137160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</a:rPr>
              <a:t>最小可实现清单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623560" y="1810512"/>
            <a:ext cx="10058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70" b="1" dirty="0">
                <a:solidFill>
                  <a:srgbClr val="116DFF"/>
                </a:solidFill>
              </a:rPr>
              <a:t>路侧感知</a:t>
            </a:r>
            <a:endParaRPr lang="en-US" sz="1070" dirty="0"/>
          </a:p>
        </p:txBody>
      </p:sp>
      <p:sp>
        <p:nvSpPr>
          <p:cNvPr id="9" name="Text 6"/>
          <p:cNvSpPr/>
          <p:nvPr/>
        </p:nvSpPr>
        <p:spPr>
          <a:xfrm>
            <a:off x="6784848" y="1810512"/>
            <a:ext cx="438912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10" dirty="0">
                <a:solidFill>
                  <a:srgbClr val="1E293B"/>
                </a:solidFill>
              </a:rPr>
              <a:t>USB/网络摄像头、支架、补光</a:t>
            </a:r>
            <a:endParaRPr lang="en-US" sz="1010" dirty="0"/>
          </a:p>
        </p:txBody>
      </p:sp>
      <p:sp>
        <p:nvSpPr>
          <p:cNvPr id="10" name="Text 7"/>
          <p:cNvSpPr/>
          <p:nvPr/>
        </p:nvSpPr>
        <p:spPr>
          <a:xfrm>
            <a:off x="5623560" y="2340864"/>
            <a:ext cx="10058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70" b="1" dirty="0">
                <a:solidFill>
                  <a:srgbClr val="116DFF"/>
                </a:solidFill>
              </a:rPr>
              <a:t>边缘AI</a:t>
            </a:r>
            <a:endParaRPr lang="en-US" sz="1070" dirty="0"/>
          </a:p>
        </p:txBody>
      </p:sp>
      <p:sp>
        <p:nvSpPr>
          <p:cNvPr id="11" name="Text 8"/>
          <p:cNvSpPr/>
          <p:nvPr/>
        </p:nvSpPr>
        <p:spPr>
          <a:xfrm>
            <a:off x="6784848" y="2340864"/>
            <a:ext cx="438912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10" dirty="0">
                <a:solidFill>
                  <a:srgbClr val="1E293B"/>
                </a:solidFill>
              </a:rPr>
              <a:t>Jetson / 工控机 / 迷你主机，运行YOLO/跟踪</a:t>
            </a:r>
            <a:endParaRPr lang="en-US" sz="1010" dirty="0"/>
          </a:p>
        </p:txBody>
      </p:sp>
      <p:sp>
        <p:nvSpPr>
          <p:cNvPr id="12" name="Text 9"/>
          <p:cNvSpPr/>
          <p:nvPr/>
        </p:nvSpPr>
        <p:spPr>
          <a:xfrm>
            <a:off x="5623560" y="2871216"/>
            <a:ext cx="10058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70" b="1" dirty="0">
                <a:solidFill>
                  <a:srgbClr val="116DFF"/>
                </a:solidFill>
              </a:rPr>
              <a:t>通信链路</a:t>
            </a:r>
            <a:endParaRPr lang="en-US" sz="1070" dirty="0"/>
          </a:p>
        </p:txBody>
      </p:sp>
      <p:sp>
        <p:nvSpPr>
          <p:cNvPr id="13" name="Text 10"/>
          <p:cNvSpPr/>
          <p:nvPr/>
        </p:nvSpPr>
        <p:spPr>
          <a:xfrm>
            <a:off x="6784848" y="2871216"/>
            <a:ext cx="438912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10" dirty="0">
                <a:solidFill>
                  <a:srgbClr val="1E293B"/>
                </a:solidFill>
              </a:rPr>
              <a:t>先用Wi‑Fi/MQTT模拟RSU/V2X，后续再换真实RSU</a:t>
            </a:r>
            <a:endParaRPr lang="en-US" sz="1010" dirty="0"/>
          </a:p>
        </p:txBody>
      </p:sp>
      <p:sp>
        <p:nvSpPr>
          <p:cNvPr id="14" name="Text 11"/>
          <p:cNvSpPr/>
          <p:nvPr/>
        </p:nvSpPr>
        <p:spPr>
          <a:xfrm>
            <a:off x="5623560" y="3401568"/>
            <a:ext cx="10058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70" b="1" dirty="0">
                <a:solidFill>
                  <a:srgbClr val="116DFF"/>
                </a:solidFill>
              </a:rPr>
              <a:t>车辆端</a:t>
            </a:r>
            <a:endParaRPr lang="en-US" sz="1070" dirty="0"/>
          </a:p>
        </p:txBody>
      </p:sp>
      <p:sp>
        <p:nvSpPr>
          <p:cNvPr id="15" name="Text 12"/>
          <p:cNvSpPr/>
          <p:nvPr/>
        </p:nvSpPr>
        <p:spPr>
          <a:xfrm>
            <a:off x="6784848" y="3401568"/>
            <a:ext cx="438912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10" dirty="0">
                <a:solidFill>
                  <a:srgbClr val="1E293B"/>
                </a:solidFill>
              </a:rPr>
              <a:t>ROS智能小车/循迹车，接收预警后减速或停车</a:t>
            </a:r>
            <a:endParaRPr lang="en-US" sz="1010" dirty="0"/>
          </a:p>
        </p:txBody>
      </p:sp>
      <p:sp>
        <p:nvSpPr>
          <p:cNvPr id="16" name="Text 13"/>
          <p:cNvSpPr/>
          <p:nvPr/>
        </p:nvSpPr>
        <p:spPr>
          <a:xfrm>
            <a:off x="5623560" y="3931920"/>
            <a:ext cx="10058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70" b="1" dirty="0">
                <a:solidFill>
                  <a:srgbClr val="116DFF"/>
                </a:solidFill>
              </a:rPr>
              <a:t>展示端</a:t>
            </a:r>
            <a:endParaRPr lang="en-US" sz="1070" dirty="0"/>
          </a:p>
        </p:txBody>
      </p:sp>
      <p:sp>
        <p:nvSpPr>
          <p:cNvPr id="17" name="Text 14"/>
          <p:cNvSpPr/>
          <p:nvPr/>
        </p:nvSpPr>
        <p:spPr>
          <a:xfrm>
            <a:off x="6784848" y="3931920"/>
            <a:ext cx="438912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10" dirty="0">
                <a:solidFill>
                  <a:srgbClr val="1E293B"/>
                </a:solidFill>
              </a:rPr>
              <a:t>现有V2X大屏叠加虚拟目标、TTC、预警日志</a:t>
            </a:r>
            <a:endParaRPr lang="en-US" sz="1010" dirty="0"/>
          </a:p>
        </p:txBody>
      </p:sp>
      <p:sp>
        <p:nvSpPr>
          <p:cNvPr id="18" name="Text 15"/>
          <p:cNvSpPr/>
          <p:nvPr/>
        </p:nvSpPr>
        <p:spPr>
          <a:xfrm>
            <a:off x="5623560" y="4617720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0B1F3A"/>
                </a:solidFill>
              </a:rPr>
              <a:t>淘宝/1688建议搜索词</a:t>
            </a:r>
            <a:endParaRPr lang="en-US" sz="1320" dirty="0"/>
          </a:p>
        </p:txBody>
      </p:sp>
      <p:sp>
        <p:nvSpPr>
          <p:cNvPr id="19" name="Text 16"/>
          <p:cNvSpPr/>
          <p:nvPr/>
        </p:nvSpPr>
        <p:spPr>
          <a:xfrm>
            <a:off x="5623560" y="5029200"/>
            <a:ext cx="5349240" cy="694944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E293B"/>
                </a:solidFill>
              </a:rPr>
              <a:t>车路协同 RSU、C-V2X 路侧单元、道路监控摄像头、Jetson 边缘计算盒、ROS 智能小车、沙盘交通灯模块、行人模型、WiFi/MQTT 控制板</a:t>
            </a:r>
            <a:endParaRPr lang="en-US" sz="1020" dirty="0"/>
          </a:p>
        </p:txBody>
      </p:sp>
      <p:sp>
        <p:nvSpPr>
          <p:cNvPr id="20" name="Shape 17"/>
          <p:cNvSpPr/>
          <p:nvPr/>
        </p:nvSpPr>
        <p:spPr>
          <a:xfrm>
            <a:off x="5623560" y="5879592"/>
            <a:ext cx="5349240" cy="310896"/>
          </a:xfrm>
          <a:prstGeom prst="roundRect">
            <a:avLst>
              <a:gd name="adj" fmla="val 14706"/>
            </a:avLst>
          </a:prstGeom>
          <a:solidFill>
            <a:srgbClr val="F3F7FF"/>
          </a:solidFill>
          <a:ln w="12700">
            <a:solidFill>
              <a:srgbClr val="DDEBF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779008" y="5971032"/>
            <a:ext cx="5029200" cy="1097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0B1F3A"/>
                </a:solidFill>
              </a:rPr>
              <a:t>落地策略：先用 Wi‑Fi 模拟 V2X 完成演示闭环；验收后再替换真实 RSU/C‑V2X 设备。</a:t>
            </a:r>
            <a:endParaRPr lang="en-US" sz="880" dirty="0"/>
          </a:p>
        </p:txBody>
      </p:sp>
      <p:sp>
        <p:nvSpPr>
          <p:cNvPr id="22" name="Text 19"/>
          <p:cNvSpPr/>
          <p:nvPr/>
        </p:nvSpPr>
        <p:spPr>
          <a:xfrm>
            <a:off x="566928" y="6519672"/>
            <a:ext cx="71323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8A96A8"/>
                </a:solidFill>
              </a:rPr>
              <a:t>基于车路协同的“鬼探头”协同感知方案</a:t>
            </a:r>
            <a:endParaRPr lang="en-US" sz="650" dirty="0"/>
          </a:p>
        </p:txBody>
      </p:sp>
      <p:sp>
        <p:nvSpPr>
          <p:cNvPr id="23" name="Text 20"/>
          <p:cNvSpPr/>
          <p:nvPr/>
        </p:nvSpPr>
        <p:spPr>
          <a:xfrm>
            <a:off x="9784080" y="6519672"/>
            <a:ext cx="17830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A96A8"/>
                </a:solidFill>
              </a:rPr>
              <a:t>车辆看不见，路能看见</a:t>
            </a:r>
            <a:endParaRPr lang="en-US" sz="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2645" y="1245870"/>
            <a:ext cx="3545205" cy="53111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8297" y="461518"/>
            <a:ext cx="72237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05  实现与采购：可用低成本设备做出闭环Demo</a:t>
            </a:r>
            <a:endParaRPr lang="en-US" sz="2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72237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B1F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06  汇报结论：从展示小车，升级为展示交通系统能力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30352" y="1106424"/>
            <a:ext cx="10927080" cy="0"/>
          </a:xfrm>
          <a:prstGeom prst="line">
            <a:avLst/>
          </a:prstGeom>
          <a:noFill/>
          <a:ln w="10160">
            <a:solidFill>
              <a:srgbClr val="D9E3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44752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</a:rPr>
              <a:t>项目价值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262432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40" b="1" dirty="0">
                <a:solidFill>
                  <a:srgbClr val="116DFF"/>
                </a:solidFill>
              </a:rPr>
              <a:t>应用价值</a:t>
            </a:r>
            <a:endParaRPr lang="en-US" sz="1140" dirty="0"/>
          </a:p>
        </p:txBody>
      </p:sp>
      <p:sp>
        <p:nvSpPr>
          <p:cNvPr id="9" name="Text 7"/>
          <p:cNvSpPr/>
          <p:nvPr/>
        </p:nvSpPr>
        <p:spPr>
          <a:xfrm>
            <a:off x="1965960" y="2624328"/>
            <a:ext cx="4434840" cy="246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E293B"/>
                </a:solidFill>
              </a:rPr>
              <a:t>可延伸到校园、医院、园区、小区出入口和城市复杂路口。</a:t>
            </a:r>
            <a:endParaRPr lang="en-US" sz="1120" dirty="0"/>
          </a:p>
        </p:txBody>
      </p:sp>
      <p:sp>
        <p:nvSpPr>
          <p:cNvPr id="10" name="Text 8"/>
          <p:cNvSpPr/>
          <p:nvPr/>
        </p:nvSpPr>
        <p:spPr>
          <a:xfrm>
            <a:off x="868680" y="3374136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40" b="1" dirty="0">
                <a:solidFill>
                  <a:srgbClr val="116DFF"/>
                </a:solidFill>
              </a:rPr>
              <a:t>技术价值</a:t>
            </a:r>
            <a:endParaRPr lang="en-US" sz="1140" dirty="0"/>
          </a:p>
        </p:txBody>
      </p:sp>
      <p:sp>
        <p:nvSpPr>
          <p:cNvPr id="11" name="Text 9"/>
          <p:cNvSpPr/>
          <p:nvPr/>
        </p:nvSpPr>
        <p:spPr>
          <a:xfrm>
            <a:off x="1965960" y="3374136"/>
            <a:ext cx="4434840" cy="246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E293B"/>
                </a:solidFill>
              </a:rPr>
              <a:t>融合路侧感知、边缘AI、V2X、数字孪生与车辆控制。</a:t>
            </a:r>
            <a:endParaRPr lang="en-US" sz="1120" dirty="0"/>
          </a:p>
        </p:txBody>
      </p:sp>
      <p:sp>
        <p:nvSpPr>
          <p:cNvPr id="12" name="Text 10"/>
          <p:cNvSpPr/>
          <p:nvPr/>
        </p:nvSpPr>
        <p:spPr>
          <a:xfrm>
            <a:off x="868680" y="4123944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40" b="1" dirty="0">
                <a:solidFill>
                  <a:srgbClr val="116DFF"/>
                </a:solidFill>
              </a:rPr>
              <a:t>落地价值</a:t>
            </a:r>
            <a:endParaRPr lang="en-US" sz="1140" dirty="0"/>
          </a:p>
        </p:txBody>
      </p:sp>
      <p:sp>
        <p:nvSpPr>
          <p:cNvPr id="13" name="Text 11"/>
          <p:cNvSpPr/>
          <p:nvPr/>
        </p:nvSpPr>
        <p:spPr>
          <a:xfrm>
            <a:off x="1965960" y="4123944"/>
            <a:ext cx="4434840" cy="246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E293B"/>
                </a:solidFill>
              </a:rPr>
              <a:t>现有沙盘可复用，新增设备成本可控，Demo闭环清晰。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6629400" y="1417320"/>
            <a:ext cx="0" cy="4114800"/>
          </a:xfrm>
          <a:prstGeom prst="line">
            <a:avLst/>
          </a:prstGeom>
          <a:noFill/>
          <a:ln w="12700">
            <a:solidFill>
              <a:srgbClr val="D7E3F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95160" y="144475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</a:rPr>
              <a:t>三阶段推进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040880" y="1874520"/>
            <a:ext cx="731520" cy="210312"/>
          </a:xfrm>
          <a:prstGeom prst="rect">
            <a:avLst/>
          </a:prstGeom>
          <a:solidFill>
            <a:srgbClr val="13A86B"/>
          </a:solidFill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阶段1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955280" y="1874520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60" b="1" dirty="0">
                <a:solidFill>
                  <a:srgbClr val="1E293B"/>
                </a:solidFill>
              </a:rPr>
              <a:t>稳定演示</a:t>
            </a:r>
            <a:endParaRPr lang="en-US" sz="1160" dirty="0"/>
          </a:p>
        </p:txBody>
      </p:sp>
      <p:sp>
        <p:nvSpPr>
          <p:cNvPr id="18" name="Text 16"/>
          <p:cNvSpPr/>
          <p:nvPr/>
        </p:nvSpPr>
        <p:spPr>
          <a:xfrm>
            <a:off x="7955280" y="2194560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10" dirty="0">
                <a:solidFill>
                  <a:srgbClr val="67758A"/>
                </a:solidFill>
              </a:rPr>
              <a:t>摄像头识别 + Wi‑Fi/MQTT模拟V2X + 小车减速</a:t>
            </a:r>
            <a:endParaRPr lang="en-US" sz="910" dirty="0"/>
          </a:p>
        </p:txBody>
      </p:sp>
      <p:sp>
        <p:nvSpPr>
          <p:cNvPr id="19" name="Text 17"/>
          <p:cNvSpPr/>
          <p:nvPr/>
        </p:nvSpPr>
        <p:spPr>
          <a:xfrm>
            <a:off x="7040880" y="2971800"/>
            <a:ext cx="731520" cy="210312"/>
          </a:xfrm>
          <a:prstGeom prst="rect">
            <a:avLst/>
          </a:prstGeom>
          <a:solidFill>
            <a:srgbClr val="116DFF"/>
          </a:solidFill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阶段2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955280" y="2971800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60" b="1" dirty="0">
                <a:solidFill>
                  <a:srgbClr val="1E293B"/>
                </a:solidFill>
              </a:rPr>
              <a:t>真实设备增强</a:t>
            </a:r>
            <a:endParaRPr lang="en-US" sz="1160" dirty="0"/>
          </a:p>
        </p:txBody>
      </p:sp>
      <p:sp>
        <p:nvSpPr>
          <p:cNvPr id="21" name="Text 19"/>
          <p:cNvSpPr/>
          <p:nvPr/>
        </p:nvSpPr>
        <p:spPr>
          <a:xfrm>
            <a:off x="7955280" y="3291840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10" dirty="0">
                <a:solidFill>
                  <a:srgbClr val="67758A"/>
                </a:solidFill>
              </a:rPr>
              <a:t>接入RSU/C‑V2X、优化大屏UI、加入多目标跟踪</a:t>
            </a:r>
            <a:endParaRPr lang="en-US" sz="910" dirty="0"/>
          </a:p>
        </p:txBody>
      </p:sp>
      <p:sp>
        <p:nvSpPr>
          <p:cNvPr id="22" name="Text 20"/>
          <p:cNvSpPr/>
          <p:nvPr/>
        </p:nvSpPr>
        <p:spPr>
          <a:xfrm>
            <a:off x="7040880" y="4069080"/>
            <a:ext cx="731520" cy="210312"/>
          </a:xfrm>
          <a:prstGeom prst="rect">
            <a:avLst/>
          </a:prstGeom>
          <a:solidFill>
            <a:srgbClr val="0B1F3A"/>
          </a:solidFill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阶段3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955280" y="4069080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60" b="1" dirty="0">
                <a:solidFill>
                  <a:srgbClr val="1E293B"/>
                </a:solidFill>
              </a:rPr>
              <a:t>扩展新场景</a:t>
            </a:r>
            <a:endParaRPr lang="en-US" sz="1160" dirty="0"/>
          </a:p>
        </p:txBody>
      </p:sp>
      <p:sp>
        <p:nvSpPr>
          <p:cNvPr id="24" name="Text 22"/>
          <p:cNvSpPr/>
          <p:nvPr/>
        </p:nvSpPr>
        <p:spPr>
          <a:xfrm>
            <a:off x="7955280" y="4389120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10" dirty="0">
                <a:solidFill>
                  <a:srgbClr val="67758A"/>
                </a:solidFill>
              </a:rPr>
              <a:t>救护车绿波、学校路口、电动车右转冲突预警</a:t>
            </a:r>
            <a:endParaRPr lang="en-US" sz="910" dirty="0"/>
          </a:p>
        </p:txBody>
      </p:sp>
      <p:sp>
        <p:nvSpPr>
          <p:cNvPr id="25" name="Shape 23"/>
          <p:cNvSpPr/>
          <p:nvPr/>
        </p:nvSpPr>
        <p:spPr>
          <a:xfrm>
            <a:off x="777240" y="5806440"/>
            <a:ext cx="10698480" cy="411480"/>
          </a:xfrm>
          <a:prstGeom prst="roundRect">
            <a:avLst>
              <a:gd name="adj" fmla="val 17778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60120" y="5925312"/>
            <a:ext cx="103327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FFFFF"/>
                </a:solidFill>
              </a:rPr>
              <a:t>结论：以“鬼探头”高风险场景为切入点，把现有沙盘升级为车路协同安全预警验证平台。</a:t>
            </a:r>
            <a:endParaRPr lang="en-US" sz="1120" dirty="0"/>
          </a:p>
        </p:txBody>
      </p:sp>
      <p:sp>
        <p:nvSpPr>
          <p:cNvPr id="27" name="Text 25"/>
          <p:cNvSpPr/>
          <p:nvPr/>
        </p:nvSpPr>
        <p:spPr>
          <a:xfrm>
            <a:off x="566928" y="6519672"/>
            <a:ext cx="71323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8A96A8"/>
                </a:solidFill>
              </a:rPr>
              <a:t>基于车路协同的“鬼探头”协同感知方案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9784080" y="6519672"/>
            <a:ext cx="17830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A96A8"/>
                </a:solidFill>
              </a:rPr>
              <a:t>车辆看不见，路能看见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1749</Words>
  <Application>WPS 演示</Application>
  <PresentationFormat>宽屏</PresentationFormat>
  <Paragraphs>247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7" baseType="lpstr">
      <vt:lpstr>Arial</vt:lpstr>
      <vt:lpstr>宋体</vt:lpstr>
      <vt:lpstr>Wingdings</vt:lpstr>
      <vt:lpstr>微软雅黑</vt:lpstr>
      <vt:lpstr>微软雅黑</vt:lpstr>
      <vt:lpstr>Calibri</vt:lpstr>
      <vt:lpstr>Arial Unicode MS</vt:lpstr>
      <vt:lpstr>WPS</vt:lpstr>
      <vt:lpstr>组会汇报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xingcheng lin</dc:creator>
  <cp:lastModifiedBy>林兴城</cp:lastModifiedBy>
  <cp:revision>8</cp:revision>
  <dcterms:created xsi:type="dcterms:W3CDTF">2023-08-09T12:44:00Z</dcterms:created>
  <dcterms:modified xsi:type="dcterms:W3CDTF">2026-10-24T03:53:41Z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478015AF168E4F08A948840E5ACB9E45_12</vt:lpwstr>
  </property>
</Properties>
</file>